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052686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75648388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131563156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981765025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07591217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9099192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222036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0024297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314429762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6199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7656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534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684001-76AF-D484-2FC6-1E0C1A67E4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9761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4736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491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4867E-3710-8A0F-1592-60B2A8688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6233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0321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84462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A99816-4E20-A2C6-F59C-D28A19A8D5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885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205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725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06B8AC-5FCA-5022-58C7-3D2D163BE1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AB3F6C-FD60-3AFA-23F7-F00D457FE7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7EE4AB-F901-5926-ED2B-BE2BCCBDDD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937706-339A-0AC5-59D5-B5B6133E50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060868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02654124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161502137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86485609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563130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63786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00037731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4636248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4067827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3045349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781971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45785095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77758702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4289243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4470783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8079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81854780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49525235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5702605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87966562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142413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434379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5187269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61999537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696926193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78774443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841274545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045371824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2983762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9440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84662038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63741703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70855806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6918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803778149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1388578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078528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06317429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32956862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14700554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1360292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18481726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494685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12345948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1726260515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2199700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8160958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2226990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37385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60934516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3704839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1565537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3498862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632537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204819390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40281932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98263869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9463507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180338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51662966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66264288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7499801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6756611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hyperlink" Target="https://bio.niv.ru/doc/encyclopedia/life-of-plants/articles/906/semejstvo-puzyrchatkovye-lentibulariaceae.htm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kivasily.github.io/KVPresent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632051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704565" y="1141465"/>
            <a:ext cx="6183177" cy="1201361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9600" b="0" i="0" u="none" spc="23">
                <a:ln>
                  <a:noFill/>
                </a:ln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60000"/>
                        <a:lumOff val="40000"/>
                      </a:schemeClr>
                    </a:gs>
                  </a:gsLst>
                  <a:lin ang="13500000" scaled="1"/>
                </a:gradFill>
                <a:latin typeface="X Company Regular"/>
                <a:ea typeface="X Company Regular"/>
                <a:cs typeface="X Company Regular"/>
              </a:rPr>
              <a:t>Генлисея</a:t>
            </a:r>
            <a:endParaRPr lang="ru-RU"/>
          </a:p>
        </p:txBody>
      </p:sp>
      <p:sp>
        <p:nvSpPr>
          <p:cNvPr id="94237859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-211448" y="2145331"/>
            <a:ext cx="6307449" cy="1596351"/>
          </a:xfrm>
        </p:spPr>
        <p:txBody>
          <a:bodyPr/>
          <a:lstStyle/>
          <a:p>
            <a:pPr>
              <a:defRPr/>
            </a:pPr>
            <a:r>
              <a:rPr lang="ru-RU" sz="3600">
                <a:latin typeface="Candara Light"/>
                <a:ea typeface="Candara Light"/>
                <a:cs typeface="Candara Light"/>
              </a:rPr>
              <a:t>Скрытый хищник</a:t>
            </a:r>
            <a:endParaRPr lang="ru-RU"/>
          </a:p>
        </p:txBody>
      </p:sp>
      <p:sp>
        <p:nvSpPr>
          <p:cNvPr id="2106657284" name=""/>
          <p:cNvSpPr/>
          <p:nvPr/>
        </p:nvSpPr>
        <p:spPr bwMode="auto">
          <a:xfrm rot="0" flipH="0" flipV="0">
            <a:off x="-589980" y="3970283"/>
            <a:ext cx="13371963" cy="9201150"/>
          </a:xfrm>
          <a:prstGeom prst="ellipse">
            <a:avLst/>
          </a:prstGeom>
          <a:blipFill rotWithShape="1">
            <a:blip r:embed="rId3"/>
            <a:stretch/>
          </a:blipFill>
          <a:ln w="63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513876" name=""/>
          <p:cNvSpPr/>
          <p:nvPr/>
        </p:nvSpPr>
        <p:spPr bwMode="auto">
          <a:xfrm rot="0" flipH="0" flipV="0">
            <a:off x="4916849" y="2352674"/>
            <a:ext cx="7029450" cy="4171950"/>
          </a:xfrm>
          <a:prstGeom prst="flowChartAlternateProcess">
            <a:avLst/>
          </a:prstGeom>
          <a:blipFill rotWithShape="1">
            <a:blip r:embed="rId3"/>
            <a:tile/>
          </a:blipFill>
          <a:ln w="12700" cap="flat" cmpd="sng" algn="ctr">
            <a:solidFill>
              <a:schemeClr val="tx1">
                <a:lumMod val="50196"/>
                <a:lumOff val="49804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2630728" name=""/>
          <p:cNvSpPr txBox="1"/>
          <p:nvPr/>
        </p:nvSpPr>
        <p:spPr bwMode="auto">
          <a:xfrm rot="0" flipH="0" flipV="0">
            <a:off x="668699" y="647699"/>
            <a:ext cx="10451669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 i="0" u="none">
                <a:solidFill>
                  <a:srgbClr val="06060F"/>
                </a:solidFill>
                <a:latin typeface="Candara Light"/>
                <a:ea typeface="Candara Light"/>
                <a:cs typeface="Candara Light"/>
              </a:rPr>
              <a:t>Генлисея -</a:t>
            </a:r>
            <a:r>
              <a:rPr sz="2400" b="0" i="0" u="none">
                <a:solidFill>
                  <a:srgbClr val="06060F"/>
                </a:solidFill>
                <a:latin typeface="Candara Light"/>
                <a:ea typeface="Candara Light"/>
                <a:cs typeface="Candara Light"/>
              </a:rPr>
              <a:t> род хищных растений, включающий в себя около 30 видов,</a:t>
            </a:r>
            <a:r>
              <a:rPr sz="2400" b="1" i="0" u="none">
                <a:solidFill>
                  <a:srgbClr val="06060F"/>
                </a:solidFill>
                <a:latin typeface="Candara Light"/>
                <a:ea typeface="Candara Light"/>
                <a:cs typeface="Candara Light"/>
              </a:rPr>
              <a:t> </a:t>
            </a:r>
            <a:r>
              <a:rPr sz="2400" b="0" i="0" u="none">
                <a:solidFill>
                  <a:srgbClr val="06060F"/>
                </a:solidFill>
                <a:latin typeface="Candara Light"/>
                <a:ea typeface="Candara Light"/>
                <a:cs typeface="Candara Light"/>
              </a:rPr>
              <a:t>распространённых во влажных частях Африки, Южной и Центральной Америки.</a:t>
            </a:r>
            <a:r>
              <a:rPr sz="2400">
                <a:latin typeface="Candara Light"/>
                <a:ea typeface="Candara Light"/>
                <a:cs typeface="Candara Light"/>
              </a:rPr>
              <a:t> Генлисея любит влагу - ее часто можно встретить на болоте или мелководье.</a:t>
            </a:r>
            <a:endParaRPr/>
          </a:p>
        </p:txBody>
      </p:sp>
      <p:sp>
        <p:nvSpPr>
          <p:cNvPr id="1221303392" name=""/>
          <p:cNvSpPr/>
          <p:nvPr/>
        </p:nvSpPr>
        <p:spPr bwMode="auto">
          <a:xfrm rot="0" flipH="0" flipV="0">
            <a:off x="668699" y="2352674"/>
            <a:ext cx="4095749" cy="4171949"/>
          </a:xfrm>
          <a:prstGeom prst="flowChartAlternateProcess">
            <a:avLst/>
          </a:prstGeom>
          <a:blipFill rotWithShape="1">
            <a:blip r:embed="rId4"/>
            <a:tile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381405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590549" y="536574"/>
            <a:ext cx="3183299" cy="1063624"/>
          </a:xfrm>
          <a:prstGeom prst="flowChartTerminator">
            <a:avLst/>
          </a:prstGeom>
          <a:ln w="12699">
            <a:solidFill>
              <a:schemeClr val="tx1"/>
            </a:solidFill>
            <a:prstDash val="solid"/>
          </a:ln>
          <a:effectLst>
            <a:outerShdw blurRad="50800" dist="38100" dir="4500000" sx="100000" sy="100000" algn="t" rotWithShape="0">
              <a:prstClr val="black">
                <a:alpha val="28000"/>
              </a:prstClr>
            </a:outerShdw>
          </a:effectLst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>
                <a:ln>
                  <a:noFill/>
                </a:ln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60000"/>
                        <a:lumOff val="40000"/>
                      </a:schemeClr>
                    </a:gs>
                  </a:gsLst>
                  <a:lin ang="13500000" scaled="1"/>
                </a:gradFill>
                <a:latin typeface="X Company Regular"/>
                <a:ea typeface="X Company Regular"/>
                <a:cs typeface="X Company Regular"/>
              </a:rPr>
              <a:t>Строение</a:t>
            </a:r>
            <a:endParaRPr>
              <a:latin typeface="X Company Regular"/>
              <a:cs typeface="X Company Regular"/>
            </a:endParaRPr>
          </a:p>
        </p:txBody>
      </p:sp>
      <p:sp>
        <p:nvSpPr>
          <p:cNvPr id="391182462" name=""/>
          <p:cNvSpPr txBox="1"/>
          <p:nvPr/>
        </p:nvSpPr>
        <p:spPr bwMode="auto">
          <a:xfrm rot="0" flipH="0" flipV="0">
            <a:off x="590549" y="1904999"/>
            <a:ext cx="11302589" cy="1676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>
                <a:latin typeface="Candara Light"/>
                <a:ea typeface="Candara Light"/>
                <a:cs typeface="Candara Light"/>
              </a:rPr>
              <a:t>У генлисеи нет видимых внешних органов для поедания насекомых.</a:t>
            </a:r>
            <a:r>
              <a:rPr sz="2600">
                <a:latin typeface="Candara Light"/>
                <a:ea typeface="Candara Light"/>
                <a:cs typeface="Candara Light"/>
              </a:rPr>
              <a:t> В отличие от большинства всем известных растений-хищников, генлисея охотится под землей. Самое интересное: у растения отсутствует корень. То, что находится у генлисеи под землей - это видоизменённые листья.</a:t>
            </a:r>
            <a:endParaRPr sz="2800">
              <a:latin typeface="Candara Light"/>
              <a:cs typeface="Candara Light"/>
            </a:endParaRPr>
          </a:p>
        </p:txBody>
      </p:sp>
      <p:sp>
        <p:nvSpPr>
          <p:cNvPr id="1609937697" name=""/>
          <p:cNvSpPr txBox="1"/>
          <p:nvPr/>
        </p:nvSpPr>
        <p:spPr bwMode="auto">
          <a:xfrm rot="0" flipH="0" flipV="0">
            <a:off x="590549" y="3798209"/>
            <a:ext cx="10900019" cy="1676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>
                <a:latin typeface="Candara Light"/>
                <a:ea typeface="Candara Light"/>
                <a:cs typeface="Candara Light"/>
              </a:rPr>
              <a:t>Всего у генлисеи два типа листьев: надземные (зеленого цвета, участвуют в фотосинтезе, как листья других растений) и подземные (ловчие, они отвечают за питание всего растения, а также удерживают его в почве, заменяя функцию корня; они белого цвета, и лишены хлорофилла).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031434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500061"/>
            <a:ext cx="10515600" cy="1325562"/>
          </a:xfrm>
          <a:prstGeom prst="flowChartAlternateProcess">
            <a:avLst/>
          </a:prstGeom>
          <a:ln w="12699">
            <a:solidFill>
              <a:schemeClr val="tx1"/>
            </a:solidFill>
            <a:prstDash val="solid"/>
          </a:ln>
        </p:spPr>
        <p:txBody>
          <a:bodyPr/>
          <a:lstStyle/>
          <a:p>
            <a:pPr>
              <a:defRPr/>
            </a:pPr>
            <a:r>
              <a:rPr sz="4800">
                <a:ln>
                  <a:noFill/>
                </a:ln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60000"/>
                        <a:lumOff val="40000"/>
                      </a:schemeClr>
                    </a:gs>
                  </a:gsLst>
                  <a:lin ang="16200000" scaled="1"/>
                </a:gradFill>
                <a:latin typeface="X Company Regular"/>
                <a:ea typeface="X Company Regular"/>
                <a:cs typeface="X Company Regular"/>
              </a:rPr>
              <a:t>Строение. Приложение</a:t>
            </a:r>
            <a:endParaRPr/>
          </a:p>
        </p:txBody>
      </p:sp>
      <p:pic>
        <p:nvPicPr>
          <p:cNvPr id="8377860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1024" y="1965442"/>
            <a:ext cx="3696225" cy="4622682"/>
          </a:xfrm>
          <a:prstGeom prst="rect">
            <a:avLst/>
          </a:prstGeom>
        </p:spPr>
      </p:pic>
      <p:sp>
        <p:nvSpPr>
          <p:cNvPr id="1021217246" name=""/>
          <p:cNvSpPr txBox="1"/>
          <p:nvPr/>
        </p:nvSpPr>
        <p:spPr bwMode="auto">
          <a:xfrm rot="0" flipH="0" flipV="0">
            <a:off x="4993049" y="2445660"/>
            <a:ext cx="5513729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>
                <a:latin typeface="Candara Light"/>
                <a:ea typeface="Candara Light"/>
                <a:cs typeface="Candara Light"/>
              </a:rPr>
              <a:t>Подробнее - </a:t>
            </a:r>
            <a:r>
              <a:rPr sz="2600" u="sng">
                <a:ln>
                  <a:noFill/>
                </a:ln>
                <a:solidFill>
                  <a:schemeClr val="accent1"/>
                </a:solidFill>
                <a:latin typeface="Candara Light"/>
                <a:ea typeface="Candara Light"/>
                <a:cs typeface="Candara Light"/>
                <a:hlinkClick r:id="rId4" tooltip=""/>
              </a:rPr>
              <a:t>тут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139675" name=""/>
          <p:cNvSpPr txBox="1"/>
          <p:nvPr/>
        </p:nvSpPr>
        <p:spPr bwMode="auto">
          <a:xfrm rot="0" flipH="0" flipV="0">
            <a:off x="284656" y="400038"/>
            <a:ext cx="11623046" cy="861690"/>
          </a:xfrm>
          <a:prstGeom prst="flowChartAlternateProcess">
            <a:avLst/>
          </a:prstGeom>
          <a:noFill/>
          <a:ln w="12699">
            <a:solidFill>
              <a:schemeClr val="tx1"/>
            </a:solidFill>
            <a:prstDash val="solid"/>
          </a:ln>
          <a:effectLst>
            <a:outerShdw blurRad="50800" dist="38100" dir="4080000" sx="100000" sy="100000" algn="t" rotWithShape="0">
              <a:prstClr val="black">
                <a:alpha val="26000"/>
              </a:prstClr>
            </a:outerShdw>
          </a:effectLst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500">
                <a:ln>
                  <a:noFill/>
                </a:ln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60000"/>
                        <a:lumOff val="40000"/>
                      </a:schemeClr>
                    </a:gs>
                  </a:gsLst>
                  <a:lin ang="13500000" scaled="1"/>
                </a:gradFill>
                <a:latin typeface="X Company Regular"/>
                <a:ea typeface="X Company Regular"/>
                <a:cs typeface="X Company Regular"/>
              </a:rPr>
              <a:t>   Механизм «подземных» листьев</a:t>
            </a:r>
            <a:endParaRPr/>
          </a:p>
        </p:txBody>
      </p:sp>
      <p:sp>
        <p:nvSpPr>
          <p:cNvPr id="1475962157" name=""/>
          <p:cNvSpPr txBox="1"/>
          <p:nvPr/>
        </p:nvSpPr>
        <p:spPr bwMode="auto">
          <a:xfrm rot="0" flipH="0" flipV="0">
            <a:off x="490424" y="1733549"/>
            <a:ext cx="11363549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>
                <a:latin typeface="Candara Light"/>
                <a:ea typeface="Candara Light"/>
                <a:cs typeface="Candara Light"/>
              </a:rPr>
              <a:t>Подземные (ловчие) листья представляют собой длинные спиральные трубки.</a:t>
            </a:r>
            <a:endParaRPr/>
          </a:p>
        </p:txBody>
      </p:sp>
      <p:sp>
        <p:nvSpPr>
          <p:cNvPr id="387079499" name=""/>
          <p:cNvSpPr txBox="1"/>
          <p:nvPr/>
        </p:nvSpPr>
        <p:spPr bwMode="auto">
          <a:xfrm rot="0" flipH="0" flipV="0">
            <a:off x="547574" y="2286000"/>
            <a:ext cx="10614089" cy="24692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Candara Light"/>
                <a:ea typeface="Candara Light"/>
                <a:cs typeface="Candara Light"/>
              </a:rPr>
              <a:t>Внутри трубки находятся жесткие волоски, направленные только в одну сторону - внутрь.</a:t>
            </a:r>
            <a:endParaRPr sz="2600">
              <a:latin typeface="Candara Light"/>
              <a:cs typeface="Candara Light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Candara Light"/>
                <a:ea typeface="Candara Light"/>
                <a:cs typeface="Candara Light"/>
              </a:rPr>
              <a:t>Вдоль спирали расположен ряд крошечных отверстий - входов.</a:t>
            </a:r>
            <a:endParaRPr sz="2600">
              <a:latin typeface="Candara Light"/>
              <a:cs typeface="Candara Light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Candara Light"/>
                <a:ea typeface="Candara Light"/>
                <a:cs typeface="Candara Light"/>
              </a:rPr>
              <a:t>Жертва легко попадает внутрь вместе с потоком воды, но не может выбраться обратно из-за волосков, которые преграждают путь к выходу.</a:t>
            </a:r>
            <a:endParaRPr sz="2600">
              <a:latin typeface="Candara Light"/>
              <a:cs typeface="Candara Light"/>
            </a:endParaRPr>
          </a:p>
        </p:txBody>
      </p:sp>
      <p:sp>
        <p:nvSpPr>
          <p:cNvPr id="1330292099" name=""/>
          <p:cNvSpPr/>
          <p:nvPr/>
        </p:nvSpPr>
        <p:spPr bwMode="auto">
          <a:xfrm rot="0" flipH="0" flipV="0">
            <a:off x="6903040" y="4633347"/>
            <a:ext cx="5246821" cy="2905931"/>
          </a:xfrm>
          <a:prstGeom prst="flowChartAlternateProcess">
            <a:avLst/>
          </a:prstGeom>
          <a:blipFill rotWithShape="1">
            <a:blip r:embed="rId3"/>
            <a:tile/>
          </a:blip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33880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531462" y="445845"/>
            <a:ext cx="6444426" cy="1325562"/>
          </a:xfrm>
          <a:prstGeom prst="flowChartTerminator">
            <a:avLst/>
          </a:prstGeom>
          <a:ln w="12699">
            <a:solidFill>
              <a:schemeClr val="tx1"/>
            </a:solidFill>
            <a:prstDash val="solid"/>
          </a:ln>
          <a:effectLst>
            <a:outerShdw blurRad="50800" dist="38100" dir="4740000" sx="100000" sy="100000" algn="t" rotWithShape="0">
              <a:prstClr val="black">
                <a:alpha val="26000"/>
              </a:prstClr>
            </a:outerShdw>
          </a:effectLst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sz="4800">
                <a:ln>
                  <a:noFill/>
                </a:ln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60000"/>
                        <a:lumOff val="40000"/>
                      </a:schemeClr>
                    </a:gs>
                  </a:gsLst>
                  <a:lin ang="13500000" scaled="1"/>
                </a:gradFill>
                <a:latin typeface="X Company Regular"/>
                <a:ea typeface="X Company Regular"/>
                <a:cs typeface="X Company Regular"/>
              </a:rPr>
              <a:t>Почему хищник?</a:t>
            </a:r>
            <a:endParaRPr sz="4800">
              <a:ln>
                <a:noFill/>
              </a:ln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atin typeface="X Company Regular"/>
              <a:cs typeface="X Company Regular"/>
            </a:endParaRPr>
          </a:p>
        </p:txBody>
      </p:sp>
      <p:sp>
        <p:nvSpPr>
          <p:cNvPr id="1525897705" name="Объект 2"/>
          <p:cNvSpPr>
            <a:spLocks noGrp="1"/>
          </p:cNvSpPr>
          <p:nvPr>
            <p:ph idx="1"/>
          </p:nvPr>
        </p:nvSpPr>
        <p:spPr bwMode="auto">
          <a:xfrm>
            <a:off x="628327" y="2067786"/>
            <a:ext cx="10515600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Candara Light"/>
                <a:ea typeface="Candara Light"/>
                <a:cs typeface="Candara Light"/>
              </a:rPr>
              <a:t>Как и другие хищные растения, генлисея стала охотником в процессе эволюции не просто так.</a:t>
            </a:r>
            <a:endParaRPr sz="2600">
              <a:latin typeface="Candara Light"/>
              <a:cs typeface="Candara Light"/>
            </a:endParaRPr>
          </a:p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Candara Light"/>
                <a:ea typeface="Candara Light"/>
                <a:cs typeface="Candara Light"/>
              </a:rPr>
              <a:t>Она растет на бедных почвах, где очень мало полезных веществ, особенно азота и фосфора. Обычные растения берут эти вещества корнями из земли, но в местах обитания генлисеи их недостаточно. Хищничество - это способ выжить и получить необходимое питание из пойманных организмов.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881309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515318" y="500061"/>
            <a:ext cx="5637223" cy="1325562"/>
          </a:xfrm>
          <a:prstGeom prst="flowChartTerminator">
            <a:avLst/>
          </a:prstGeom>
          <a:ln w="12699">
            <a:solidFill>
              <a:schemeClr val="tx1"/>
            </a:solidFill>
            <a:prstDash val="solid"/>
          </a:ln>
          <a:effectLst>
            <a:outerShdw blurRad="50800" dist="38100" dir="6240000" sx="100000" sy="100000" algn="t" rotWithShape="0">
              <a:prstClr val="black">
                <a:alpha val="23000"/>
              </a:prstClr>
            </a:outerShdw>
          </a:effectLst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sz="4800">
                <a:ln>
                  <a:noFill/>
                </a:ln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60000"/>
                        <a:lumOff val="40000"/>
                      </a:schemeClr>
                    </a:gs>
                  </a:gsLst>
                  <a:lin ang="13500000" scaled="1"/>
                </a:gradFill>
                <a:latin typeface="X Company Regular"/>
                <a:ea typeface="X Company Regular"/>
                <a:cs typeface="X Company Regular"/>
              </a:rPr>
              <a:t>Пища генлисеи</a:t>
            </a:r>
            <a:endParaRPr/>
          </a:p>
        </p:txBody>
      </p:sp>
      <p:sp>
        <p:nvSpPr>
          <p:cNvPr id="121871105" name="Объект 2"/>
          <p:cNvSpPr>
            <a:spLocks noGrp="1"/>
          </p:cNvSpPr>
          <p:nvPr>
            <p:ph idx="1"/>
          </p:nvPr>
        </p:nvSpPr>
        <p:spPr bwMode="auto">
          <a:xfrm>
            <a:off x="757479" y="2148506"/>
            <a:ext cx="10515600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Candara Light"/>
                <a:ea typeface="Candara Light"/>
                <a:cs typeface="Candara Light"/>
              </a:rPr>
              <a:t>Так как ловушки генлисеи очень узкие, она не может ловить мух или жуков. Её добыча - это микроскопические организмы, обитающие в сырой почве и воде.</a:t>
            </a:r>
            <a:endParaRPr sz="2600">
              <a:latin typeface="Candara Light"/>
              <a:ea typeface="Candara Light"/>
              <a:cs typeface="Candara Light"/>
            </a:endParaRPr>
          </a:p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Candara Light"/>
                <a:ea typeface="Candara Light"/>
                <a:cs typeface="Candara Light"/>
              </a:rPr>
              <a:t>Генлисея питается:</a:t>
            </a:r>
            <a:endParaRPr sz="2600">
              <a:latin typeface="Candara Light"/>
              <a:cs typeface="Candara Light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Candara Light"/>
                <a:ea typeface="Candara Light"/>
                <a:cs typeface="Candara Light"/>
              </a:rPr>
              <a:t>Простейшие одноклеточные организмы (инфузории, амебы).</a:t>
            </a:r>
            <a:endParaRPr sz="2600">
              <a:latin typeface="Candara Light"/>
              <a:cs typeface="Candara Light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Candara Light"/>
                <a:ea typeface="Candara Light"/>
                <a:cs typeface="Candara Light"/>
              </a:rPr>
              <a:t>Микроскопические черви.</a:t>
            </a:r>
            <a:endParaRPr sz="2600">
              <a:latin typeface="Candara Light"/>
              <a:cs typeface="Candara Light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Candara Light"/>
                <a:ea typeface="Candara Light"/>
                <a:cs typeface="Candara Light"/>
              </a:rPr>
              <a:t>Мелкие ракообразные.</a:t>
            </a:r>
            <a:endParaRPr sz="2600">
              <a:latin typeface="Candara Light"/>
              <a:cs typeface="Candara Light"/>
            </a:endParaRPr>
          </a:p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Candara Light"/>
                <a:ea typeface="Candara Light"/>
                <a:cs typeface="Candara Light"/>
              </a:rPr>
              <a:t>Попав в спиральную трубку, добыча переваривается с помощью специальных ферментов, и растение получает питательные вещества.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194123" name="Заголовок 1"/>
          <p:cNvSpPr>
            <a:spLocks noGrp="1"/>
          </p:cNvSpPr>
          <p:nvPr>
            <p:ph type="title"/>
          </p:nvPr>
        </p:nvSpPr>
        <p:spPr bwMode="auto">
          <a:xfrm>
            <a:off x="547606" y="558853"/>
            <a:ext cx="10515600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sz="550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atin typeface="X Company Regular"/>
                <a:ea typeface="X Company Regular"/>
                <a:cs typeface="X Company Regular"/>
              </a:rPr>
              <a:t>Спасибо за внимание!</a:t>
            </a:r>
            <a:endParaRPr sz="5500"/>
          </a:p>
        </p:txBody>
      </p:sp>
      <p:sp>
        <p:nvSpPr>
          <p:cNvPr id="1098678245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600">
                <a:latin typeface="Candara Light"/>
                <a:ea typeface="Candara Light"/>
                <a:cs typeface="Candara Light"/>
              </a:rPr>
              <a:t>Всю важную дополнительную информацию, а так-же приложения к презентации можно найти </a:t>
            </a:r>
            <a:r>
              <a:rPr lang="ru-RU" sz="3600" u="sng">
                <a:latin typeface="Candara Light"/>
                <a:ea typeface="Candara Light"/>
                <a:cs typeface="Candara Light"/>
                <a:hlinkClick r:id="rId3" tooltip="Переход на KVPresent"/>
              </a:rPr>
              <a:t>тут</a:t>
            </a:r>
            <a:r>
              <a:rPr lang="ru-RU" sz="3600">
                <a:latin typeface="Candara Light"/>
                <a:ea typeface="Candara Light"/>
                <a:cs typeface="Candara Light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Genliseya</dc:title>
  <dc:creator>Krivtsov Vasily</dc:creator>
  <cp:lastModifiedBy/>
  <cp:revision>7</cp:revision>
  <dcterms:modified xsi:type="dcterms:W3CDTF">2026-02-01T10:36:12Z</dcterms:modified>
</cp:coreProperties>
</file>