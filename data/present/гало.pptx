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300966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6420020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440681854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817771364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064970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58718298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284107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69902665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699240139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5996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5433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107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39F8BC-D8C0-5DF7-3C6E-5F9B89D48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894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5037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872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1D2496-3D03-F17C-F00B-4256053915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553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9752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428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7BF6BA-6DF2-50BB-A56C-FDC9A58BBF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052395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0693974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9496529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5447559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9099734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80492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80655872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3925598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3695320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757055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373270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18968077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5817739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2600310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1332536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42369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63774637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37042980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2474017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7764834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08039844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96090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584666469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2534992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25959344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51280034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2795983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96805902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6977142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76112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845204169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06985553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17931003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5330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63030474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32239912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707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137883968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0366703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278118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2127219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54039872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088873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02903165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15291053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3668325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0063790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23422693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1424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26389851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4413115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93870819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3338017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433467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50544041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3845912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6603287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8001927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30937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642192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99087834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1330822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2734680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00874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405143" y="1855551"/>
            <a:ext cx="8977405" cy="1276471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ru-RU" sz="960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atin typeface="X Company Regular"/>
                <a:ea typeface="X Company Regular"/>
                <a:cs typeface="X Company Regular"/>
              </a:rPr>
              <a:t>Гало</a:t>
            </a:r>
            <a:endParaRPr lang="ru-RU"/>
          </a:p>
        </p:txBody>
      </p:sp>
      <p:sp>
        <p:nvSpPr>
          <p:cNvPr id="88115092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4179699" y="2884371"/>
            <a:ext cx="7976150" cy="544626"/>
          </a:xfrm>
        </p:spPr>
        <p:txBody>
          <a:bodyPr/>
          <a:lstStyle/>
          <a:p>
            <a:pPr>
              <a:defRPr/>
            </a:pPr>
            <a:r>
              <a:rPr lang="ru-RU" sz="2000">
                <a:latin typeface="Tahoma"/>
                <a:ea typeface="Tahoma"/>
                <a:cs typeface="Tahoma"/>
              </a:rPr>
              <a:t>Описание оптического атмосферного явления</a:t>
            </a:r>
            <a:endParaRPr lang="ru-RU"/>
          </a:p>
        </p:txBody>
      </p:sp>
      <p:sp>
        <p:nvSpPr>
          <p:cNvPr id="977095591" name=""/>
          <p:cNvSpPr/>
          <p:nvPr/>
        </p:nvSpPr>
        <p:spPr bwMode="auto">
          <a:xfrm rot="0" flipH="0" flipV="0">
            <a:off x="-2146849" y="-114300"/>
            <a:ext cx="7349450" cy="7067549"/>
          </a:xfrm>
          <a:prstGeom prst="flowChartAlternateProcess">
            <a:avLst/>
          </a:prstGeom>
          <a:blipFill rotWithShape="1">
            <a:blip r:embed="rId3"/>
            <a:tile/>
          </a:blipFill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028547" name="Объект 2"/>
          <p:cNvSpPr>
            <a:spLocks noGrp="1"/>
          </p:cNvSpPr>
          <p:nvPr>
            <p:ph idx="1"/>
          </p:nvPr>
        </p:nvSpPr>
        <p:spPr bwMode="auto">
          <a:xfrm>
            <a:off x="323848" y="720401"/>
            <a:ext cx="10515600" cy="4351338"/>
          </a:xfrm>
        </p:spPr>
        <p:txBody>
          <a:bodyPr/>
          <a:lstStyle/>
          <a:p>
            <a:pPr>
              <a:defRPr/>
            </a:pPr>
            <a:r>
              <a:rPr sz="36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Гало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(от греч. </a:t>
            </a:r>
            <a:r>
              <a:rPr sz="3600" b="0" i="1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halos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— кольцо, ореол) — совокупность оптических явлений в атмосфере, возникающих в результате взаимодействия светового излучения (солнечного или лунного) с ледяными кристаллами.</a:t>
            </a:r>
            <a:endParaRPr/>
          </a:p>
        </p:txBody>
      </p:sp>
      <p:sp>
        <p:nvSpPr>
          <p:cNvPr id="1857735083" name=""/>
          <p:cNvSpPr/>
          <p:nvPr/>
        </p:nvSpPr>
        <p:spPr bwMode="auto">
          <a:xfrm rot="0" flipH="0" flipV="0">
            <a:off x="7162799" y="2514600"/>
            <a:ext cx="5505449" cy="5534023"/>
          </a:xfrm>
          <a:prstGeom prst="ellipse">
            <a:avLst/>
          </a:prstGeom>
          <a:blipFill rotWithShape="1">
            <a:blip r:embed="rId3"/>
            <a:stretch/>
          </a:blip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893591" name="Заголовок 1"/>
          <p:cNvSpPr>
            <a:spLocks noGrp="1"/>
          </p:cNvSpPr>
          <p:nvPr>
            <p:ph type="title"/>
          </p:nvPr>
        </p:nvSpPr>
        <p:spPr bwMode="auto">
          <a:xfrm>
            <a:off x="386165" y="500061"/>
            <a:ext cx="10515600" cy="1325562"/>
          </a:xfrm>
        </p:spPr>
        <p:txBody>
          <a:bodyPr/>
          <a:lstStyle/>
          <a:p>
            <a:pPr>
              <a:defRPr/>
            </a:pPr>
            <a:r>
              <a:rPr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2700000" scaled="1"/>
                </a:gradFill>
                <a:latin typeface="X Company Regular"/>
                <a:ea typeface="X Company Regular"/>
                <a:cs typeface="X Company Regular"/>
              </a:rPr>
              <a:t>Причины возникновения:</a:t>
            </a:r>
            <a:endParaRPr>
              <a:ln>
                <a:noFill/>
              </a:ln>
              <a:gradFill>
                <a:gsLst>
                  <a:gs pos="0">
                    <a:schemeClr val="accent5">
                      <a:lumMod val="75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1"/>
              </a:gradFill>
            </a:endParaRPr>
          </a:p>
        </p:txBody>
      </p:sp>
      <p:sp>
        <p:nvSpPr>
          <p:cNvPr id="128372322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Возникает в морозную погоду (зимой), преломляясь от кристалликов льда в атмосфере, обычно под углом 22</a:t>
            </a:r>
            <a:r>
              <a:rPr sz="2800" b="0" i="0" u="none">
                <a:solidFill>
                  <a:srgbClr val="0A0A0A"/>
                </a:solidFill>
                <a:latin typeface="Calibri"/>
                <a:ea typeface="Calibri"/>
                <a:cs typeface="Calibri"/>
              </a:rPr>
              <a:t>°</a:t>
            </a:r>
            <a:r>
              <a:rPr sz="2800">
                <a:latin typeface="Calibri"/>
                <a:ea typeface="Calibri"/>
                <a:cs typeface="Calibri"/>
              </a:rPr>
              <a:t>. Чаще всего при высокой влажности</a:t>
            </a:r>
            <a:endParaRPr sz="2800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>
              <a:latin typeface="Calibri"/>
              <a:cs typeface="Calibri"/>
            </a:endParaRPr>
          </a:p>
        </p:txBody>
      </p:sp>
      <p:sp>
        <p:nvSpPr>
          <p:cNvPr id="1422448899" name=""/>
          <p:cNvSpPr/>
          <p:nvPr/>
        </p:nvSpPr>
        <p:spPr bwMode="auto">
          <a:xfrm rot="0" flipH="0" flipV="0">
            <a:off x="-190499" y="3505199"/>
            <a:ext cx="12458700" cy="6953249"/>
          </a:xfrm>
          <a:prstGeom prst="ellipse">
            <a:avLst/>
          </a:prstGeom>
          <a:blipFill rotWithShape="1">
            <a:blip r:embed="rId3"/>
            <a:tile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301898" name="Заголовок 1"/>
          <p:cNvSpPr>
            <a:spLocks noGrp="1"/>
          </p:cNvSpPr>
          <p:nvPr>
            <p:ph type="title"/>
          </p:nvPr>
        </p:nvSpPr>
        <p:spPr bwMode="auto">
          <a:xfrm>
            <a:off x="459149" y="328611"/>
            <a:ext cx="10515600" cy="1325562"/>
          </a:xfrm>
        </p:spPr>
        <p:txBody>
          <a:bodyPr/>
          <a:lstStyle/>
          <a:p>
            <a:pPr>
              <a:defRPr/>
            </a:pPr>
            <a:r>
              <a:rPr sz="720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atin typeface="X Company Regular"/>
                <a:ea typeface="X Company Regular"/>
                <a:cs typeface="X Company Regular"/>
              </a:rPr>
              <a:t>Виды</a:t>
            </a:r>
            <a:endParaRPr/>
          </a:p>
        </p:txBody>
      </p:sp>
      <p:sp>
        <p:nvSpPr>
          <p:cNvPr id="1459139818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723899" y="1444624"/>
            <a:ext cx="10515600" cy="1241424"/>
          </a:xfrm>
        </p:spPr>
        <p:txBody>
          <a:bodyPr/>
          <a:lstStyle/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Обычно выглядит как световой нимб (круг) вокург солнца, а также бывает в виде дуг, паргелиев </a:t>
            </a:r>
            <a:r>
              <a:rPr>
                <a:latin typeface="Calibri"/>
                <a:ea typeface="Calibri"/>
                <a:cs typeface="Calibri"/>
              </a:rPr>
              <a:t>(ложных солнц).</a:t>
            </a:r>
            <a:endParaRPr/>
          </a:p>
        </p:txBody>
      </p:sp>
      <p:sp>
        <p:nvSpPr>
          <p:cNvPr id="706543614" name=""/>
          <p:cNvSpPr/>
          <p:nvPr/>
        </p:nvSpPr>
        <p:spPr bwMode="auto">
          <a:xfrm rot="0" flipH="0" flipV="0">
            <a:off x="459149" y="2389187"/>
            <a:ext cx="4210049" cy="4000500"/>
          </a:xfrm>
          <a:prstGeom prst="flowChartAlternateProcess">
            <a:avLst/>
          </a:prstGeom>
          <a:blipFill rotWithShape="1">
            <a:blip r:embed="rId3"/>
            <a:stretch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89585151" name=""/>
          <p:cNvSpPr txBox="1"/>
          <p:nvPr/>
        </p:nvSpPr>
        <p:spPr bwMode="auto">
          <a:xfrm rot="0" flipH="0" flipV="0">
            <a:off x="996772" y="6389687"/>
            <a:ext cx="3134804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atin typeface="Calibri"/>
                <a:ea typeface="Calibri"/>
                <a:cs typeface="Calibri"/>
              </a:rPr>
              <a:t>Схема, как увидеть гало</a:t>
            </a:r>
            <a:endParaRPr sz="2200">
              <a:ln w="12700">
                <a:solidFill>
                  <a:schemeClr val="accent5">
                    <a:lumMod val="75000"/>
                  </a:schemeClr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2026-01-28T15:18:26Z</dcterms:modified>
</cp:coreProperties>
</file>